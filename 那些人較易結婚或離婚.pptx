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  <p:sldId id="265" r:id="rId12"/>
    <p:sldId id="266" r:id="rId13"/>
    <p:sldId id="267" r:id="rId14"/>
    <p:sldId id="268" r:id="rId15"/>
    <p:sldId id="273" r:id="rId16"/>
    <p:sldId id="272" r:id="rId17"/>
    <p:sldId id="271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1AA9CD98-57D2-4AE9-AF7E-9279CBEC05F1}">
          <p14:sldIdLst>
            <p14:sldId id="256"/>
            <p14:sldId id="270"/>
          </p14:sldIdLst>
        </p14:section>
        <p14:section name="專題發想說明" id="{3D3A3770-3E24-4444-9D05-23E9E74CD64D}">
          <p14:sldIdLst>
            <p14:sldId id="257"/>
          </p14:sldIdLst>
        </p14:section>
        <p14:section name="收尋資料" id="{33C3750E-6E39-4E71-9BB7-92AA7032288C}">
          <p14:sldIdLst>
            <p14:sldId id="258"/>
          </p14:sldIdLst>
        </p14:section>
        <p14:section name="資料轉換" id="{84FF970D-9EF9-4134-AA93-CEF38A01E2DE}">
          <p14:sldIdLst>
            <p14:sldId id="259"/>
          </p14:sldIdLst>
        </p14:section>
        <p14:section name="資料儲存" id="{CE7FB4E4-E292-4DC1-9E28-4C0C7E72B71E}">
          <p14:sldIdLst>
            <p14:sldId id="260"/>
          </p14:sldIdLst>
        </p14:section>
        <p14:section name="資料分析" id="{51C68CDC-7A18-4F86-8B66-D43758E6C9C3}">
          <p14:sldIdLst>
            <p14:sldId id="261"/>
            <p14:sldId id="263"/>
            <p14:sldId id="264"/>
            <p14:sldId id="262"/>
            <p14:sldId id="265"/>
            <p14:sldId id="266"/>
            <p14:sldId id="267"/>
            <p14:sldId id="268"/>
            <p14:sldId id="273"/>
            <p14:sldId id="272"/>
          </p14:sldIdLst>
        </p14:section>
        <p14:section name="相關發現" id="{5B55F51C-A9B9-4D71-8E70-75811F1E4DBA}">
          <p14:sldIdLst>
            <p14:sldId id="271"/>
          </p14:sldIdLst>
        </p14:section>
        <p14:section name="結論" id="{EEA2D8FB-8303-485E-814E-3F075925881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  <a:endParaRPr lang="en-US" altLang="zh-TW" sz="4400" dirty="0"/>
          </a:p>
          <a:p>
            <a:pPr algn="ctr"/>
            <a:r>
              <a:rPr lang="zh-TW" altLang="en-US" sz="4400" dirty="0"/>
              <a:t>專題製作</a:t>
            </a:r>
            <a:r>
              <a:rPr lang="en-US" altLang="zh-TW" sz="4400" dirty="0"/>
              <a:t>:</a:t>
            </a:r>
            <a:r>
              <a:rPr lang="zh-TW" altLang="en-US" sz="4400" dirty="0"/>
              <a:t>何權哲</a:t>
            </a:r>
            <a:endParaRPr lang="en-US" altLang="zh-TW" sz="4400" dirty="0"/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2FA4-B0E2-A937-3F86-4223D103D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b="1" dirty="0"/>
              <a:t>目錄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8A62EC-246B-C898-9B89-AD036EA87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402819"/>
            <a:ext cx="9905999" cy="4760913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專題發想說明</a:t>
            </a:r>
            <a:r>
              <a:rPr lang="en-US" altLang="zh-TW" sz="2800" dirty="0"/>
              <a:t>----------------------------------------------</a:t>
            </a:r>
            <a:r>
              <a:rPr lang="en-US" altLang="zh-TW" sz="3200" dirty="0"/>
              <a:t>3P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收尋資料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4P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資料轉換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5P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資料儲存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6P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資料分析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7P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相關發現</a:t>
            </a:r>
            <a:r>
              <a:rPr lang="en-US" altLang="zh-TW" sz="2800" dirty="0"/>
              <a:t>---------------------------------------------------</a:t>
            </a:r>
            <a:r>
              <a:rPr lang="en-US" altLang="zh-TW" sz="3200" dirty="0"/>
              <a:t>17P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結論</a:t>
            </a:r>
            <a:r>
              <a:rPr lang="en-US" altLang="zh-TW" sz="2800" dirty="0"/>
              <a:t>---------------------------------------------------------</a:t>
            </a:r>
            <a:r>
              <a:rPr lang="en-US" altLang="zh-TW" sz="3200" dirty="0"/>
              <a:t>18P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51672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近年結婚人數逐年減少，單身越來越多。</a:t>
            </a:r>
            <a:endParaRPr lang="en-US" altLang="zh-TW" dirty="0"/>
          </a:p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即時讀取資料進行分析</a:t>
            </a:r>
            <a:endParaRPr lang="en-US" altLang="zh-TW" dirty="0"/>
          </a:p>
          <a:p>
            <a:r>
              <a:rPr lang="zh-TW" altLang="en-US" dirty="0"/>
              <a:t>統一再用</a:t>
            </a:r>
            <a:r>
              <a:rPr lang="en-US" altLang="zh-TW" dirty="0"/>
              <a:t>DAX</a:t>
            </a:r>
            <a:r>
              <a:rPr lang="zh-TW" altLang="en-US" dirty="0"/>
              <a:t>做額外統計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777" y="38171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000" dirty="0"/>
              <a:t>Power PI</a:t>
            </a:r>
            <a:r>
              <a:rPr lang="zh-TW" altLang="en-US" sz="4000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90A880C-831A-3411-3375-D82DAB399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662683"/>
            <a:ext cx="7916380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每月離婚人數</a:t>
            </a:r>
            <a:br>
              <a:rPr lang="en-US" altLang="zh-TW" dirty="0"/>
            </a:b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6FFEB43-2EEE-091E-0FCD-D5E4D6AC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57" y="1579504"/>
            <a:ext cx="8820907" cy="488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條件為臺中市大甲區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6DDBEA-D189-AFD1-9138-A9F6BCF09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31" y="1656818"/>
            <a:ext cx="8304962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</a:t>
            </a:r>
            <a:r>
              <a:rPr lang="en-US" altLang="zh-TW" dirty="0"/>
              <a:t>:25~34</a:t>
            </a:r>
            <a:r>
              <a:rPr lang="zh-TW" altLang="en-US" dirty="0"/>
              <a:t>歲、台中市西區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4FFB7-036E-8305-4037-0C619D32E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  <a:r>
              <a:rPr lang="en-US" altLang="zh-TW" dirty="0"/>
              <a:t>/</a:t>
            </a:r>
            <a:r>
              <a:rPr lang="zh-TW" altLang="en-US" dirty="0"/>
              <a:t>離婚男女比例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C6AA866D-7868-F982-8600-BF0FA4DA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985" y="1694787"/>
            <a:ext cx="7906853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70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345C43-CC6E-CF95-407D-1219A4A17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結婚離婚統計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9181839-74AF-BACF-BB4E-9A215FA2C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28913" y="2249488"/>
            <a:ext cx="633099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40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42B3DD-4613-85DD-A677-946F669A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額外相關發現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FD8C23-B881-4AE7-76FB-80FA280DF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2018</a:t>
            </a:r>
            <a:r>
              <a:rPr lang="zh-TW" altLang="en-US" sz="3200" dirty="0"/>
              <a:t>年恰逢同性婚姻合法化，可能造成同性結婚增加，同年出現</a:t>
            </a:r>
            <a:r>
              <a:rPr lang="zh-TW" altLang="en-US" sz="3200" b="1" u="sng" dirty="0"/>
              <a:t>離婚男女比例不對稱，女生較多，</a:t>
            </a:r>
            <a:r>
              <a:rPr lang="en-US" altLang="zh-TW" sz="3200" dirty="0"/>
              <a:t>		</a:t>
            </a:r>
            <a:r>
              <a:rPr lang="zh-TW" altLang="en-US" sz="3200" dirty="0"/>
              <a:t>  </a:t>
            </a:r>
            <a:r>
              <a:rPr lang="zh-TW" altLang="en-US" sz="3200" b="1" u="sng" dirty="0"/>
              <a:t>但結婚男女比例對稱</a:t>
            </a:r>
            <a:r>
              <a:rPr lang="zh-TW" altLang="en-US" sz="3200" dirty="0"/>
              <a:t>。</a:t>
            </a:r>
            <a:endParaRPr lang="en-US" altLang="zh-TW" sz="3200" dirty="0"/>
          </a:p>
          <a:p>
            <a:r>
              <a:rPr lang="en-US" altLang="zh-TW" sz="3200" dirty="0"/>
              <a:t>2018</a:t>
            </a:r>
            <a:r>
              <a:rPr lang="zh-TW" altLang="en-US" sz="3200" dirty="0"/>
              <a:t>年台中集體結婚樂成宮月老加持首屆集團結婚，可能導致結婚人數增加，解釋</a:t>
            </a:r>
            <a:r>
              <a:rPr lang="zh-TW" altLang="en-US" sz="3200" b="1" u="sng" dirty="0"/>
              <a:t>結婚人數是離婚人數</a:t>
            </a:r>
            <a:r>
              <a:rPr lang="en-US" altLang="zh-TW" sz="3200" b="1" u="sng" dirty="0"/>
              <a:t>3</a:t>
            </a:r>
            <a:r>
              <a:rPr lang="zh-TW" altLang="en-US" sz="3200" b="1" u="sng" dirty="0"/>
              <a:t>倍以上</a:t>
            </a:r>
          </a:p>
        </p:txBody>
      </p:sp>
    </p:spTree>
    <p:extLst>
      <p:ext uri="{BB962C8B-B14F-4D97-AF65-F5344CB8AC3E}">
        <p14:creationId xmlns:p14="http://schemas.microsoft.com/office/powerpoint/2010/main" val="3872578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再婚人數最多。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再婚人數開始高於初婚人數。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endParaRPr lang="en-US" altLang="zh-TW" sz="2400" u="sng" dirty="0"/>
          </a:p>
          <a:p>
            <a:pPr lvl="1"/>
            <a:r>
              <a:rPr lang="zh-TW" altLang="en-US" sz="2400" dirty="0"/>
              <a:t>結婚人數是離婚人數</a:t>
            </a:r>
            <a:r>
              <a:rPr lang="en-US" altLang="zh-TW" sz="2400" u="sng" dirty="0"/>
              <a:t>3</a:t>
            </a:r>
            <a:r>
              <a:rPr lang="zh-TW" altLang="en-US" sz="2400" u="sng" dirty="0"/>
              <a:t>倍以上</a:t>
            </a:r>
            <a:endParaRPr lang="en-US" altLang="zh-TW" sz="2400" u="sng" dirty="0"/>
          </a:p>
          <a:p>
            <a:pPr lvl="1"/>
            <a:r>
              <a:rPr lang="zh-TW" altLang="en-US" sz="2400" dirty="0"/>
              <a:t>每月離婚中</a:t>
            </a:r>
            <a:r>
              <a:rPr lang="en-US" altLang="zh-TW" sz="2400" u="sng" dirty="0"/>
              <a:t>2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及</a:t>
            </a:r>
            <a:r>
              <a:rPr lang="en-US" altLang="zh-TW" sz="2400" u="sng" dirty="0"/>
              <a:t>9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離婚最少，剛好處於</a:t>
            </a:r>
            <a:r>
              <a:rPr lang="zh-TW" altLang="en-US" sz="2400" u="sng" dirty="0"/>
              <a:t>學生寒暑收假</a:t>
            </a:r>
            <a:r>
              <a:rPr lang="zh-TW" altLang="en-US" sz="2400" dirty="0"/>
              <a:t>。</a:t>
            </a: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1125</TotalTime>
  <Words>451</Words>
  <Application>Microsoft Office PowerPoint</Application>
  <PresentationFormat>寬螢幕</PresentationFormat>
  <Paragraphs>48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1" baseType="lpstr">
      <vt:lpstr>Arial</vt:lpstr>
      <vt:lpstr>Tw Cen MT</vt:lpstr>
      <vt:lpstr>電路</vt:lpstr>
      <vt:lpstr>那些人較易結婚或離婚?</vt:lpstr>
      <vt:lpstr>目錄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每月離婚人數 </vt:lpstr>
      <vt:lpstr>離婚-條件為臺中市大甲區</vt:lpstr>
      <vt:lpstr>結婚</vt:lpstr>
      <vt:lpstr>PowerPoint 簡報</vt:lpstr>
      <vt:lpstr>PowerPoint 簡報</vt:lpstr>
      <vt:lpstr>離婚-條件:25~34歲、台中市西區 登記/發生</vt:lpstr>
      <vt:lpstr>結婚/離婚男女比例</vt:lpstr>
      <vt:lpstr>結婚離婚統計</vt:lpstr>
      <vt:lpstr>額外相關發現</vt:lpstr>
      <vt:lpstr>結論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33</cp:revision>
  <dcterms:created xsi:type="dcterms:W3CDTF">2026-03-31T06:00:18Z</dcterms:created>
  <dcterms:modified xsi:type="dcterms:W3CDTF">2026-04-15T02:01:42Z</dcterms:modified>
</cp:coreProperties>
</file>