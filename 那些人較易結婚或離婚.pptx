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2" r:id="rId11"/>
    <p:sldId id="265" r:id="rId12"/>
    <p:sldId id="266" r:id="rId13"/>
    <p:sldId id="267" r:id="rId14"/>
    <p:sldId id="268" r:id="rId15"/>
    <p:sldId id="273" r:id="rId16"/>
    <p:sldId id="272" r:id="rId17"/>
    <p:sldId id="271" r:id="rId18"/>
    <p:sldId id="269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AA9CD98-57D2-4AE9-AF7E-9279CBEC05F1}">
          <p14:sldIdLst>
            <p14:sldId id="256"/>
            <p14:sldId id="270"/>
          </p14:sldIdLst>
        </p14:section>
        <p14:section name="專題發想說明" id="{3D3A3770-3E24-4444-9D05-23E9E74CD64D}">
          <p14:sldIdLst>
            <p14:sldId id="257"/>
          </p14:sldIdLst>
        </p14:section>
        <p14:section name="收尋資料" id="{33C3750E-6E39-4E71-9BB7-92AA7032288C}">
          <p14:sldIdLst>
            <p14:sldId id="258"/>
          </p14:sldIdLst>
        </p14:section>
        <p14:section name="資料轉換" id="{84FF970D-9EF9-4134-AA93-CEF38A01E2DE}">
          <p14:sldIdLst>
            <p14:sldId id="259"/>
          </p14:sldIdLst>
        </p14:section>
        <p14:section name="資料儲存" id="{CE7FB4E4-E292-4DC1-9E28-4C0C7E72B71E}">
          <p14:sldIdLst>
            <p14:sldId id="260"/>
          </p14:sldIdLst>
        </p14:section>
        <p14:section name="資料分析" id="{51C68CDC-7A18-4F86-8B66-D43758E6C9C3}">
          <p14:sldIdLst>
            <p14:sldId id="261"/>
            <p14:sldId id="263"/>
            <p14:sldId id="264"/>
            <p14:sldId id="262"/>
            <p14:sldId id="265"/>
            <p14:sldId id="266"/>
            <p14:sldId id="267"/>
            <p14:sldId id="268"/>
            <p14:sldId id="273"/>
            <p14:sldId id="272"/>
          </p14:sldIdLst>
        </p14:section>
        <p14:section name="相關發現" id="{5B55F51C-A9B9-4D71-8E70-75811F1E4DBA}">
          <p14:sldIdLst>
            <p14:sldId id="271"/>
          </p14:sldIdLst>
        </p14:section>
        <p14:section name="結論" id="{EEA2D8FB-8303-485E-814E-3F0759258812}">
          <p14:sldIdLst>
            <p14:sldId id="269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2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4C4E51-2DCA-95E4-6207-BB08846D8D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TW" altLang="en-US" dirty="0"/>
              <a:t>那些人較易結婚或離婚</a:t>
            </a:r>
            <a:r>
              <a:rPr lang="en-US" altLang="zh-TW" dirty="0">
                <a:latin typeface="+mj-ea"/>
              </a:rPr>
              <a:t>?</a:t>
            </a:r>
            <a:endParaRPr lang="zh-TW" altLang="en-US" dirty="0">
              <a:latin typeface="+mj-ea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9BDA309-817E-1682-1D73-9A1E40B26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n-US" altLang="zh-TW" sz="4400" dirty="0"/>
              <a:t>2018</a:t>
            </a:r>
            <a:r>
              <a:rPr lang="zh-TW" altLang="en-US" sz="4400" dirty="0"/>
              <a:t>年台中市居民的婚姻狀況分析</a:t>
            </a:r>
            <a:endParaRPr lang="en-US" altLang="zh-TW" sz="4400" dirty="0"/>
          </a:p>
          <a:p>
            <a:pPr algn="ctr"/>
            <a:r>
              <a:rPr lang="zh-TW" altLang="en-US" sz="4400" dirty="0"/>
              <a:t>專題製作</a:t>
            </a:r>
            <a:r>
              <a:rPr lang="en-US" altLang="zh-TW" sz="4400" dirty="0"/>
              <a:t>:</a:t>
            </a:r>
            <a:r>
              <a:rPr lang="zh-TW" altLang="en-US" sz="4400" dirty="0"/>
              <a:t>何權哲</a:t>
            </a:r>
            <a:endParaRPr lang="en-US" altLang="zh-TW" sz="4400" dirty="0"/>
          </a:p>
        </p:txBody>
      </p:sp>
    </p:spTree>
    <p:extLst>
      <p:ext uri="{BB962C8B-B14F-4D97-AF65-F5344CB8AC3E}">
        <p14:creationId xmlns:p14="http://schemas.microsoft.com/office/powerpoint/2010/main" val="3712067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92FA4-B0E2-A937-3F86-4223D103D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514"/>
            <a:ext cx="9905998" cy="1478570"/>
          </a:xfrm>
        </p:spPr>
        <p:txBody>
          <a:bodyPr/>
          <a:lstStyle/>
          <a:p>
            <a:pPr algn="ctr"/>
            <a:r>
              <a:rPr lang="zh-TW" altLang="en-US" b="1" dirty="0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8A62EC-246B-C898-9B89-AD036EA87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02819"/>
            <a:ext cx="9905999" cy="4760913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sz="2800" dirty="0"/>
              <a:t>專題發想說明</a:t>
            </a:r>
            <a:r>
              <a:rPr lang="en-US" altLang="zh-TW" sz="2800" dirty="0"/>
              <a:t>----------------------------------------------</a:t>
            </a:r>
            <a:r>
              <a:rPr lang="en-US" altLang="zh-TW" sz="3200" dirty="0"/>
              <a:t>3P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800" dirty="0"/>
              <a:t>收尋資料</a:t>
            </a:r>
            <a:r>
              <a:rPr lang="en-US" altLang="zh-TW" sz="2800" dirty="0"/>
              <a:t>----------------------------------------------------</a:t>
            </a:r>
            <a:r>
              <a:rPr lang="en-US" altLang="zh-TW" sz="3200" dirty="0"/>
              <a:t>4P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800" dirty="0"/>
              <a:t>資料轉換</a:t>
            </a:r>
            <a:r>
              <a:rPr lang="en-US" altLang="zh-TW" sz="2800" dirty="0"/>
              <a:t>----------------------------------------------------</a:t>
            </a:r>
            <a:r>
              <a:rPr lang="en-US" altLang="zh-TW" sz="3200" dirty="0"/>
              <a:t>5P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800" dirty="0"/>
              <a:t>資料儲存</a:t>
            </a:r>
            <a:r>
              <a:rPr lang="en-US" altLang="zh-TW" sz="2800" dirty="0"/>
              <a:t>----------------------------------------------------</a:t>
            </a:r>
            <a:r>
              <a:rPr lang="en-US" altLang="zh-TW" sz="3200" dirty="0"/>
              <a:t>6P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800" dirty="0"/>
              <a:t>資料分析</a:t>
            </a:r>
            <a:r>
              <a:rPr lang="en-US" altLang="zh-TW" sz="2800" dirty="0"/>
              <a:t>----------------------------------------------------</a:t>
            </a:r>
            <a:r>
              <a:rPr lang="en-US" altLang="zh-TW" sz="3200" dirty="0"/>
              <a:t>7P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800" dirty="0"/>
              <a:t>相關發現</a:t>
            </a:r>
            <a:r>
              <a:rPr lang="en-US" altLang="zh-TW" sz="2800" dirty="0"/>
              <a:t>---------------------------------------------------</a:t>
            </a:r>
            <a:r>
              <a:rPr lang="en-US" altLang="zh-TW" sz="3200" dirty="0"/>
              <a:t>17P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800" dirty="0"/>
              <a:t>結論</a:t>
            </a:r>
            <a:r>
              <a:rPr lang="en-US" altLang="zh-TW" sz="2800" dirty="0"/>
              <a:t>---------------------------------------------------------</a:t>
            </a:r>
            <a:r>
              <a:rPr lang="en-US" altLang="zh-TW" sz="3200" dirty="0"/>
              <a:t>18P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1672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B64590-1A1E-2C50-C76E-030A7E14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專題發想說明</a:t>
            </a:r>
            <a:r>
              <a:rPr lang="en-US" altLang="zh-TW" dirty="0"/>
              <a:t>: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B941A9-E5E0-CF97-A5C9-849C50BD4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近年結婚人數逐年減少，單身越來越多。</a:t>
            </a:r>
            <a:endParaRPr lang="en-US" altLang="zh-TW" dirty="0"/>
          </a:p>
          <a:p>
            <a:r>
              <a:rPr lang="zh-TW" altLang="en-US" dirty="0"/>
              <a:t>好奇結婚的人有哪些特色</a:t>
            </a:r>
            <a:r>
              <a:rPr lang="en-US" altLang="zh-TW" dirty="0"/>
              <a:t>?</a:t>
            </a:r>
          </a:p>
          <a:p>
            <a:r>
              <a:rPr lang="zh-TW" altLang="en-US" dirty="0"/>
              <a:t>解析台中市在</a:t>
            </a:r>
            <a:r>
              <a:rPr lang="en-US" altLang="zh-TW" dirty="0"/>
              <a:t>2018</a:t>
            </a:r>
            <a:r>
              <a:rPr lang="zh-TW" altLang="en-US" dirty="0"/>
              <a:t>年的結婚及離婚狀況</a:t>
            </a:r>
          </a:p>
          <a:p>
            <a:r>
              <a:rPr lang="zh-TW" altLang="en-US" dirty="0"/>
              <a:t>以</a:t>
            </a:r>
            <a:r>
              <a:rPr lang="en-US" altLang="zh-TW" dirty="0"/>
              <a:t>[</a:t>
            </a:r>
            <a:r>
              <a:rPr lang="zh-TW" altLang="en-US" dirty="0"/>
              <a:t>那些人較易結婚或離婚</a:t>
            </a:r>
            <a:r>
              <a:rPr lang="en-US" altLang="zh-TW" dirty="0"/>
              <a:t>?-2018</a:t>
            </a:r>
            <a:r>
              <a:rPr lang="zh-TW" altLang="en-US" dirty="0"/>
              <a:t>台中市居民的婚姻狀況分析</a:t>
            </a:r>
            <a:r>
              <a:rPr lang="en-US" altLang="zh-TW" dirty="0"/>
              <a:t>]</a:t>
            </a:r>
            <a:r>
              <a:rPr lang="zh-TW" altLang="en-US" dirty="0"/>
              <a:t>為出發點去收集資料</a:t>
            </a:r>
          </a:p>
        </p:txBody>
      </p:sp>
    </p:spTree>
    <p:extLst>
      <p:ext uri="{BB962C8B-B14F-4D97-AF65-F5344CB8AC3E}">
        <p14:creationId xmlns:p14="http://schemas.microsoft.com/office/powerpoint/2010/main" val="1168443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C3B829-4C91-8FBB-09BC-E49127734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收尋以下網站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F57AE6-D4EA-7BA8-703F-B1FED4DCF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政府資料開放平台</a:t>
            </a:r>
            <a:r>
              <a:rPr lang="en-US" altLang="zh-TW" dirty="0"/>
              <a:t>,</a:t>
            </a:r>
            <a:r>
              <a:rPr lang="en-US" altLang="zh-TW" dirty="0" err="1"/>
              <a:t>kaggle</a:t>
            </a:r>
            <a:r>
              <a:rPr lang="en-US" altLang="zh-TW" dirty="0"/>
              <a:t>,</a:t>
            </a:r>
            <a:r>
              <a:rPr lang="zh-TW" altLang="en-US" dirty="0"/>
              <a:t>中華民國內政部</a:t>
            </a:r>
            <a:r>
              <a:rPr lang="en-US" altLang="zh-TW" dirty="0"/>
              <a:t>,dataset research google</a:t>
            </a:r>
          </a:p>
          <a:p>
            <a:pPr marL="0" indent="0">
              <a:buNone/>
            </a:pPr>
            <a:r>
              <a:rPr lang="en-US" altLang="zh-TW" dirty="0"/>
              <a:t>   ,</a:t>
            </a:r>
            <a:r>
              <a:rPr lang="zh-TW" altLang="en-US" dirty="0"/>
              <a:t>台中市政府資料開放平台</a:t>
            </a:r>
            <a:r>
              <a:rPr lang="en-US" altLang="zh-TW" dirty="0"/>
              <a:t>...</a:t>
            </a:r>
          </a:p>
          <a:p>
            <a:r>
              <a:rPr lang="zh-TW" altLang="en-US" dirty="0"/>
              <a:t>採用台中市政府資料開放平台的</a:t>
            </a:r>
            <a:r>
              <a:rPr lang="en-US" altLang="zh-TW" dirty="0"/>
              <a:t>CSV</a:t>
            </a:r>
            <a:r>
              <a:rPr lang="zh-TW" altLang="en-US" dirty="0"/>
              <a:t>資料，有同年度最多維度的資料。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0B4D56-C9CF-9C4D-9C8F-BB18B2CA3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103" y="4059405"/>
            <a:ext cx="3505689" cy="67636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834DDBD-A698-58D2-13AD-0B5828784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344" y="4032178"/>
            <a:ext cx="943107" cy="51442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A2E27F9-2247-D8FF-4B17-5D4DA04CC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587" y="4806900"/>
            <a:ext cx="3829584" cy="72400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B00EC9E-DE77-08C0-531D-18F76845F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587" y="3994073"/>
            <a:ext cx="2019582" cy="55252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0AAF804-B92D-B170-FC3F-EA82D385C7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9346" y="4032178"/>
            <a:ext cx="2119765" cy="63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28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E52C66-59D0-D739-9733-05446F29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</a:t>
            </a:r>
            <a:r>
              <a:rPr lang="zh-TW" altLang="en-US" b="1" dirty="0"/>
              <a:t>轉換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063991-4028-AB20-E63F-6049A7252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將下載的</a:t>
            </a:r>
            <a:r>
              <a:rPr lang="en-US" altLang="zh-TW" dirty="0"/>
              <a:t>CSV</a:t>
            </a:r>
            <a:r>
              <a:rPr lang="zh-TW" altLang="en-US" dirty="0"/>
              <a:t>檔</a:t>
            </a:r>
            <a:r>
              <a:rPr lang="zh-TW" altLang="en-US"/>
              <a:t>資料重整，</a:t>
            </a:r>
            <a:r>
              <a:rPr lang="zh-TW" altLang="en-US" dirty="0"/>
              <a:t>例</a:t>
            </a:r>
            <a:r>
              <a:rPr lang="en-US" altLang="zh-TW" dirty="0"/>
              <a:t>:[</a:t>
            </a:r>
            <a:r>
              <a:rPr lang="zh-TW" altLang="en-US" dirty="0"/>
              <a:t>項目</a:t>
            </a:r>
            <a:r>
              <a:rPr lang="en-US" altLang="zh-TW" dirty="0"/>
              <a:t>]</a:t>
            </a:r>
            <a:r>
              <a:rPr lang="zh-TW" altLang="en-US" dirty="0"/>
              <a:t>拆解</a:t>
            </a:r>
            <a:r>
              <a:rPr lang="en-US" altLang="zh-TW" dirty="0"/>
              <a:t>[</a:t>
            </a:r>
            <a:r>
              <a:rPr lang="zh-TW" altLang="en-US" dirty="0"/>
              <a:t>性別</a:t>
            </a:r>
            <a:r>
              <a:rPr lang="en-US" altLang="zh-TW" dirty="0"/>
              <a:t>,</a:t>
            </a:r>
            <a:r>
              <a:rPr lang="zh-TW" altLang="en-US" dirty="0"/>
              <a:t>歲數</a:t>
            </a:r>
            <a:r>
              <a:rPr lang="en-US" altLang="zh-TW" dirty="0"/>
              <a:t>,</a:t>
            </a:r>
            <a:r>
              <a:rPr lang="zh-TW" altLang="en-US" dirty="0"/>
              <a:t>初</a:t>
            </a:r>
            <a:r>
              <a:rPr lang="en-US" altLang="zh-TW" dirty="0"/>
              <a:t>/</a:t>
            </a:r>
            <a:r>
              <a:rPr lang="zh-TW" altLang="en-US" dirty="0"/>
              <a:t>再婚</a:t>
            </a:r>
            <a:r>
              <a:rPr lang="en-US" altLang="zh-TW" dirty="0"/>
              <a:t>]</a:t>
            </a:r>
            <a:r>
              <a:rPr lang="zh-TW" altLang="en-US" dirty="0"/>
              <a:t>，以歲數分群成</a:t>
            </a:r>
            <a:r>
              <a:rPr lang="en-US" altLang="zh-TW" dirty="0"/>
              <a:t>[</a:t>
            </a:r>
            <a:r>
              <a:rPr lang="zh-TW" altLang="en-US" dirty="0"/>
              <a:t>年齡區間</a:t>
            </a:r>
            <a:r>
              <a:rPr lang="en-US" altLang="zh-TW" dirty="0"/>
              <a:t>]…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9E9DF66-5B87-25C2-0406-E47EBE21D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807" y="3537565"/>
            <a:ext cx="1352739" cy="129558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20A5BB4-894F-685B-6250-DD2A002D0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919" y="3499460"/>
            <a:ext cx="2076740" cy="133368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B9252A0-1AA6-2521-F43B-4DFCF8CFB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632" y="3499460"/>
            <a:ext cx="647790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7BCC62-8B4F-FFAA-A766-43AFFA87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資料儲存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F0ACB1-E652-6EBB-4120-B4DF39ED8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採用兩種方式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1.</a:t>
            </a:r>
            <a:r>
              <a:rPr lang="zh-TW" altLang="en-US" dirty="0"/>
              <a:t>直接將</a:t>
            </a:r>
            <a:r>
              <a:rPr lang="en-US" altLang="zh-TW" dirty="0"/>
              <a:t>CSV</a:t>
            </a:r>
            <a:r>
              <a:rPr lang="zh-TW" altLang="en-US" dirty="0"/>
              <a:t>資料載入至</a:t>
            </a:r>
            <a:r>
              <a:rPr lang="en-US" altLang="zh-TW" dirty="0"/>
              <a:t>Power BI</a:t>
            </a:r>
            <a:r>
              <a:rPr lang="zh-TW" altLang="en-US" dirty="0"/>
              <a:t>開始分析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先將</a:t>
            </a:r>
            <a:r>
              <a:rPr lang="en-US" altLang="zh-TW" dirty="0"/>
              <a:t>CSV</a:t>
            </a:r>
            <a:r>
              <a:rPr lang="zh-TW" altLang="en-US" dirty="0"/>
              <a:t>資料載入至</a:t>
            </a:r>
            <a:r>
              <a:rPr lang="en-US" altLang="zh-TW" dirty="0"/>
              <a:t>Microsoft Azure</a:t>
            </a:r>
            <a:r>
              <a:rPr lang="zh-TW" altLang="en-US" dirty="0"/>
              <a:t> </a:t>
            </a:r>
            <a:r>
              <a:rPr lang="en-US" altLang="zh-TW" dirty="0"/>
              <a:t>SQL Server</a:t>
            </a:r>
            <a:r>
              <a:rPr lang="zh-TW" altLang="en-US" dirty="0"/>
              <a:t>中，再用</a:t>
            </a:r>
            <a:r>
              <a:rPr lang="en-US" altLang="zh-TW" dirty="0"/>
              <a:t>Power BI</a:t>
            </a:r>
            <a:r>
              <a:rPr lang="zh-TW" altLang="en-US" dirty="0"/>
              <a:t>即時讀取資料進行分析</a:t>
            </a:r>
            <a:endParaRPr lang="en-US" altLang="zh-TW" dirty="0"/>
          </a:p>
          <a:p>
            <a:r>
              <a:rPr lang="zh-TW" altLang="en-US" dirty="0"/>
              <a:t>統一再用</a:t>
            </a:r>
            <a:r>
              <a:rPr lang="en-US" altLang="zh-TW" dirty="0"/>
              <a:t>DAX</a:t>
            </a:r>
            <a:r>
              <a:rPr lang="zh-TW" altLang="en-US" dirty="0"/>
              <a:t>做額外統計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517EC03-179F-F052-3889-F85092956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293" y="248633"/>
            <a:ext cx="2305372" cy="306747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4FE2312-953F-EB00-8743-426ACB319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777" y="3817144"/>
            <a:ext cx="2629267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016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D4E3E0-872D-4A03-D6FD-39F7BAAF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資料分析</a:t>
            </a:r>
          </a:p>
        </p:txBody>
      </p:sp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6C9DCCF2-C7CF-8A66-CF47-BFD16AE5E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/>
              <a:t>Power PI</a:t>
            </a:r>
            <a:r>
              <a:rPr lang="zh-TW" altLang="en-US" sz="4000" dirty="0"/>
              <a:t>展示</a:t>
            </a:r>
          </a:p>
        </p:txBody>
      </p:sp>
    </p:spTree>
    <p:extLst>
      <p:ext uri="{BB962C8B-B14F-4D97-AF65-F5344CB8AC3E}">
        <p14:creationId xmlns:p14="http://schemas.microsoft.com/office/powerpoint/2010/main" val="1494313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E1C51B-1E12-A1F9-64DE-B5291BD3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歲數相關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90A880C-831A-3411-3375-D82DAB399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222" y="1662683"/>
            <a:ext cx="7916380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65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18A8C0-5E0B-BF81-6BBA-8C4803C63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每月離婚人數</a:t>
            </a:r>
            <a:br>
              <a:rPr lang="en-US" altLang="zh-TW" dirty="0"/>
            </a:b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6FFEB43-2EEE-091E-0FCD-D5E4D6AC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957" y="1579504"/>
            <a:ext cx="8820907" cy="488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30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19A397-BC6A-F52F-20FC-FB3EC17D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離婚</a:t>
            </a:r>
            <a:r>
              <a:rPr lang="en-US" altLang="zh-TW" dirty="0"/>
              <a:t>-</a:t>
            </a:r>
            <a:r>
              <a:rPr lang="zh-TW" altLang="en-US" dirty="0"/>
              <a:t>條件為臺中市大甲區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23F2302-F2DE-F7B0-6FA6-401BAD480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DBD2F39-9BDC-DFD8-044E-B47BA7AB0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309" y="1611420"/>
            <a:ext cx="8378206" cy="476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51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65E444-2789-6140-A878-B56984840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結婚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26DDBEA-D189-AFD1-9138-A9F6BCF09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931" y="1656818"/>
            <a:ext cx="8304962" cy="467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35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538D195-53B5-2103-5E65-9B4D2CFF9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580" y="486875"/>
            <a:ext cx="10267896" cy="577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6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F59889-A105-1263-C345-8B5CF769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90A9E7DC-F5B7-DE67-F199-E9909F21D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625BD59-B985-6AE0-C522-C97690694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659" y="618516"/>
            <a:ext cx="9983503" cy="567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717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29036-DF81-93F1-975E-5F43A0D40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327514"/>
            <a:ext cx="9905998" cy="1478570"/>
          </a:xfrm>
        </p:spPr>
        <p:txBody>
          <a:bodyPr/>
          <a:lstStyle/>
          <a:p>
            <a:pPr algn="ctr"/>
            <a:r>
              <a:rPr lang="zh-TW" altLang="en-US" dirty="0"/>
              <a:t>離婚</a:t>
            </a:r>
            <a:r>
              <a:rPr lang="en-US" altLang="zh-TW" dirty="0"/>
              <a:t>-</a:t>
            </a:r>
            <a:r>
              <a:rPr lang="zh-TW" altLang="en-US" dirty="0"/>
              <a:t>條件</a:t>
            </a:r>
            <a:r>
              <a:rPr lang="en-US" altLang="zh-TW" dirty="0"/>
              <a:t>:25~34</a:t>
            </a:r>
            <a:r>
              <a:rPr lang="zh-TW" altLang="en-US" dirty="0"/>
              <a:t>歲、台中市西區</a:t>
            </a:r>
            <a:br>
              <a:rPr lang="en-US" altLang="zh-TW" dirty="0"/>
            </a:br>
            <a:r>
              <a:rPr lang="zh-TW" altLang="en-US" dirty="0"/>
              <a:t>登記</a:t>
            </a:r>
            <a:r>
              <a:rPr lang="en-US" altLang="zh-TW" dirty="0"/>
              <a:t>/</a:t>
            </a:r>
            <a:r>
              <a:rPr lang="zh-TW" altLang="en-US" dirty="0"/>
              <a:t>發生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CF3778D-A35A-29D3-79CD-44DB6FC78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481" y="1625461"/>
            <a:ext cx="8429038" cy="479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57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64FFB7-036E-8305-4037-0C619D32E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結婚</a:t>
            </a:r>
            <a:r>
              <a:rPr lang="en-US" altLang="zh-TW" dirty="0"/>
              <a:t>/</a:t>
            </a:r>
            <a:r>
              <a:rPr lang="zh-TW" altLang="en-US" dirty="0"/>
              <a:t>離婚男女比例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C6AA866D-7868-F982-8600-BF0FA4DA5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985" y="1694787"/>
            <a:ext cx="7906853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70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345C43-CC6E-CF95-407D-1219A4A17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結婚離婚統計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9181839-74AF-BACF-BB4E-9A215FA2C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8913" y="2249488"/>
            <a:ext cx="6330999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40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42B3DD-4613-85DD-A677-946F669A6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額外相關發現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FD8C23-B881-4AE7-76FB-80FA280DF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2018</a:t>
            </a:r>
            <a:r>
              <a:rPr lang="zh-TW" altLang="en-US" sz="3200" dirty="0"/>
              <a:t>年恰逢同性婚姻合法化，可能造成同性結婚增加，同年出現</a:t>
            </a:r>
            <a:r>
              <a:rPr lang="zh-TW" altLang="en-US" sz="3200" b="1" u="sng" dirty="0"/>
              <a:t>離婚男女比例不對稱，女生較多，</a:t>
            </a:r>
            <a:r>
              <a:rPr lang="en-US" altLang="zh-TW" sz="3200" dirty="0"/>
              <a:t>		</a:t>
            </a:r>
            <a:r>
              <a:rPr lang="zh-TW" altLang="en-US" sz="3200" dirty="0"/>
              <a:t>  </a:t>
            </a:r>
            <a:r>
              <a:rPr lang="zh-TW" altLang="en-US" sz="3200" b="1" u="sng" dirty="0"/>
              <a:t>但結婚男女比例對稱</a:t>
            </a:r>
            <a:r>
              <a:rPr lang="zh-TW" altLang="en-US" sz="3200" dirty="0"/>
              <a:t>。</a:t>
            </a:r>
            <a:endParaRPr lang="en-US" altLang="zh-TW" sz="3200" dirty="0"/>
          </a:p>
          <a:p>
            <a:r>
              <a:rPr lang="en-US" altLang="zh-TW" sz="3200" dirty="0"/>
              <a:t>2018</a:t>
            </a:r>
            <a:r>
              <a:rPr lang="zh-TW" altLang="en-US" sz="3200" dirty="0"/>
              <a:t>年台中集體結婚樂成宮月老加持首屆集團結婚，可能導致結婚人數增加，解釋</a:t>
            </a:r>
            <a:r>
              <a:rPr lang="zh-TW" altLang="en-US" sz="3200" b="1" u="sng" dirty="0"/>
              <a:t>結婚人數是離婚人數</a:t>
            </a:r>
            <a:r>
              <a:rPr lang="en-US" altLang="zh-TW" sz="3200" b="1" u="sng" dirty="0"/>
              <a:t>3</a:t>
            </a:r>
            <a:r>
              <a:rPr lang="zh-TW" altLang="en-US" sz="3200" b="1" u="sng" dirty="0"/>
              <a:t>倍以上</a:t>
            </a:r>
          </a:p>
        </p:txBody>
      </p:sp>
    </p:spTree>
    <p:extLst>
      <p:ext uri="{BB962C8B-B14F-4D97-AF65-F5344CB8AC3E}">
        <p14:creationId xmlns:p14="http://schemas.microsoft.com/office/powerpoint/2010/main" val="3872578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E64124-3613-262A-684B-02F32471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結論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DD5C57-7D5A-7C3C-ACA8-0174E5386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sz="2800" dirty="0"/>
              <a:t>台中市</a:t>
            </a:r>
            <a:r>
              <a:rPr lang="en-US" altLang="zh-TW" sz="2800" dirty="0"/>
              <a:t>2018</a:t>
            </a:r>
            <a:r>
              <a:rPr lang="zh-TW" altLang="en-US" sz="2800" dirty="0"/>
              <a:t>年</a:t>
            </a:r>
            <a:r>
              <a:rPr lang="en-US" altLang="zh-TW" sz="2800" dirty="0"/>
              <a:t>:</a:t>
            </a:r>
          </a:p>
          <a:p>
            <a:pPr lvl="1"/>
            <a:r>
              <a:rPr lang="en-US" altLang="zh-TW" sz="2400" u="sng" dirty="0"/>
              <a:t>25~34</a:t>
            </a:r>
            <a:r>
              <a:rPr lang="zh-TW" altLang="en-US" sz="2400" u="sng" dirty="0"/>
              <a:t>歲</a:t>
            </a:r>
            <a:r>
              <a:rPr lang="zh-TW" altLang="en-US" sz="2400" dirty="0"/>
              <a:t>結婚人數最多，大多為</a:t>
            </a:r>
            <a:r>
              <a:rPr lang="zh-TW" altLang="en-US" sz="2400" u="sng" dirty="0"/>
              <a:t>初婚</a:t>
            </a:r>
            <a:r>
              <a:rPr lang="zh-TW" altLang="en-US" sz="2400" dirty="0"/>
              <a:t>，</a:t>
            </a:r>
            <a:r>
              <a:rPr lang="en-US" altLang="zh-TW" sz="2400" u="sng" dirty="0"/>
              <a:t>35~44</a:t>
            </a:r>
            <a:r>
              <a:rPr lang="zh-TW" altLang="en-US" sz="2400" u="sng" dirty="0"/>
              <a:t>歲</a:t>
            </a:r>
            <a:r>
              <a:rPr lang="zh-TW" altLang="en-US" sz="2400" dirty="0"/>
              <a:t>再婚人數最多。</a:t>
            </a:r>
            <a:endParaRPr lang="en-US" altLang="zh-TW" sz="2400" dirty="0"/>
          </a:p>
          <a:p>
            <a:pPr lvl="1"/>
            <a:r>
              <a:rPr lang="en-US" altLang="zh-TW" sz="2400" u="sng" dirty="0"/>
              <a:t>45~54</a:t>
            </a:r>
            <a:r>
              <a:rPr lang="zh-TW" altLang="en-US" sz="2400" u="sng" dirty="0"/>
              <a:t>歲</a:t>
            </a:r>
            <a:r>
              <a:rPr lang="zh-TW" altLang="en-US" sz="2400" dirty="0"/>
              <a:t>再婚人數開始高於初婚人數。</a:t>
            </a:r>
            <a:endParaRPr lang="en-US" altLang="zh-TW" sz="2400" dirty="0"/>
          </a:p>
          <a:p>
            <a:pPr lvl="1"/>
            <a:r>
              <a:rPr lang="en-US" altLang="zh-TW" sz="2400" u="sng" dirty="0"/>
              <a:t>35~44</a:t>
            </a:r>
            <a:r>
              <a:rPr lang="zh-TW" altLang="en-US" sz="2400" u="sng" dirty="0"/>
              <a:t>歲</a:t>
            </a:r>
            <a:r>
              <a:rPr lang="zh-TW" altLang="en-US" sz="2400" dirty="0"/>
              <a:t>離婚人數為該群最高、</a:t>
            </a:r>
            <a:r>
              <a:rPr lang="zh-TW" altLang="en-US" sz="2400" u="sng" dirty="0"/>
              <a:t>高中畢業</a:t>
            </a:r>
            <a:r>
              <a:rPr lang="zh-TW" altLang="en-US" sz="2400" dirty="0"/>
              <a:t>的離婚人數為該群最高。</a:t>
            </a:r>
            <a:endParaRPr lang="en-US" altLang="zh-TW" sz="2400" dirty="0"/>
          </a:p>
          <a:p>
            <a:pPr lvl="1"/>
            <a:r>
              <a:rPr lang="en-US" altLang="zh-TW" sz="2400" u="sng" dirty="0"/>
              <a:t>25~34</a:t>
            </a:r>
            <a:r>
              <a:rPr lang="zh-TW" altLang="en-US" sz="2400" u="sng" dirty="0"/>
              <a:t>歲</a:t>
            </a:r>
            <a:r>
              <a:rPr lang="zh-TW" altLang="en-US" sz="2400" dirty="0"/>
              <a:t>且</a:t>
            </a:r>
            <a:r>
              <a:rPr lang="zh-TW" altLang="en-US" sz="2400" u="sng" dirty="0"/>
              <a:t>大學畢業</a:t>
            </a:r>
            <a:r>
              <a:rPr lang="zh-TW" altLang="en-US" sz="2400" dirty="0"/>
              <a:t>的初婚人數最高。</a:t>
            </a:r>
            <a:endParaRPr lang="en-US" altLang="zh-TW" sz="2400" dirty="0"/>
          </a:p>
          <a:p>
            <a:pPr lvl="1"/>
            <a:r>
              <a:rPr lang="zh-TW" altLang="en-US" sz="2400" dirty="0"/>
              <a:t>原住民中有偶人數最多人為</a:t>
            </a:r>
            <a:r>
              <a:rPr lang="en-US" altLang="zh-TW" sz="2400" u="sng" dirty="0"/>
              <a:t>35~44</a:t>
            </a:r>
            <a:r>
              <a:rPr lang="zh-TW" altLang="en-US" sz="2400" u="sng" dirty="0"/>
              <a:t>歲</a:t>
            </a:r>
            <a:r>
              <a:rPr lang="zh-TW" altLang="en-US" sz="2400" dirty="0"/>
              <a:t>，離過婚中最多人在</a:t>
            </a:r>
            <a:r>
              <a:rPr lang="en-US" altLang="zh-TW" sz="2400" u="sng" dirty="0"/>
              <a:t>45~54</a:t>
            </a:r>
            <a:r>
              <a:rPr lang="zh-TW" altLang="en-US" sz="2400" u="sng" dirty="0"/>
              <a:t>歲</a:t>
            </a:r>
            <a:endParaRPr lang="en-US" altLang="zh-TW" sz="2400" u="sng" dirty="0"/>
          </a:p>
          <a:p>
            <a:pPr lvl="1"/>
            <a:r>
              <a:rPr lang="zh-TW" altLang="en-US" sz="2400" dirty="0"/>
              <a:t>結婚人數是離婚人數</a:t>
            </a:r>
            <a:r>
              <a:rPr lang="en-US" altLang="zh-TW" sz="2400" u="sng" dirty="0"/>
              <a:t>3</a:t>
            </a:r>
            <a:r>
              <a:rPr lang="zh-TW" altLang="en-US" sz="2400" u="sng" dirty="0"/>
              <a:t>倍以上</a:t>
            </a:r>
            <a:endParaRPr lang="en-US" altLang="zh-TW" sz="2400" u="sng" dirty="0"/>
          </a:p>
          <a:p>
            <a:pPr lvl="1"/>
            <a:r>
              <a:rPr lang="zh-TW" altLang="en-US" sz="2400" dirty="0"/>
              <a:t>每月離婚中</a:t>
            </a:r>
            <a:r>
              <a:rPr lang="en-US" altLang="zh-TW" sz="2400" u="sng" dirty="0"/>
              <a:t>2</a:t>
            </a:r>
            <a:r>
              <a:rPr lang="zh-TW" altLang="en-US" sz="2400" u="sng" dirty="0"/>
              <a:t>月</a:t>
            </a:r>
            <a:r>
              <a:rPr lang="zh-TW" altLang="en-US" sz="2400" dirty="0"/>
              <a:t>及</a:t>
            </a:r>
            <a:r>
              <a:rPr lang="en-US" altLang="zh-TW" sz="2400" u="sng" dirty="0"/>
              <a:t>9</a:t>
            </a:r>
            <a:r>
              <a:rPr lang="zh-TW" altLang="en-US" sz="2400" u="sng" dirty="0"/>
              <a:t>月</a:t>
            </a:r>
            <a:r>
              <a:rPr lang="zh-TW" altLang="en-US" sz="2400" dirty="0"/>
              <a:t>離婚最少，剛好處於</a:t>
            </a:r>
            <a:r>
              <a:rPr lang="zh-TW" altLang="en-US" sz="2400" u="sng" dirty="0"/>
              <a:t>學生寒暑收假</a:t>
            </a:r>
            <a:r>
              <a:rPr lang="zh-TW" altLang="en-US" sz="2400" dirty="0"/>
              <a:t>，離婚最少可能原因是</a:t>
            </a:r>
            <a:r>
              <a:rPr lang="en-US" altLang="zh-TW" sz="2400" dirty="0"/>
              <a:t>2</a:t>
            </a:r>
            <a:r>
              <a:rPr lang="zh-TW" altLang="en-US" sz="2400" dirty="0"/>
              <a:t>月過年期間，不想打破團圓的氣氛，且</a:t>
            </a:r>
            <a:r>
              <a:rPr lang="en-US" altLang="zh-TW" sz="2400" u="sng" dirty="0"/>
              <a:t>2</a:t>
            </a:r>
            <a:r>
              <a:rPr lang="zh-TW" altLang="en-US" sz="2400" u="sng" dirty="0"/>
              <a:t>月</a:t>
            </a:r>
            <a:r>
              <a:rPr lang="zh-TW" altLang="en-US" sz="2400" dirty="0"/>
              <a:t>及</a:t>
            </a:r>
            <a:r>
              <a:rPr lang="en-US" altLang="zh-TW" sz="2400" u="sng" dirty="0"/>
              <a:t>9</a:t>
            </a:r>
            <a:r>
              <a:rPr lang="zh-TW" altLang="en-US" sz="2400" u="sng" dirty="0"/>
              <a:t>月</a:t>
            </a:r>
            <a:r>
              <a:rPr lang="zh-TW" altLang="en-US" sz="2400" dirty="0"/>
              <a:t>為孩子開學的照顧需求，所以離婚人數低。</a:t>
            </a:r>
            <a:endParaRPr lang="en-US" altLang="zh-TW" sz="2400" dirty="0"/>
          </a:p>
          <a:p>
            <a:pPr lvl="1"/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158195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231C9E-F0A1-D3D1-E8C6-4DEF8283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相關建議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59B603-C80F-8BA1-49B4-EACBC07BD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3200" dirty="0"/>
              <a:t>相親、交友組織可以對</a:t>
            </a:r>
            <a:r>
              <a:rPr lang="en-US" altLang="zh-TW" sz="3200" u="sng" dirty="0"/>
              <a:t>25~34</a:t>
            </a:r>
            <a:r>
              <a:rPr lang="zh-TW" altLang="en-US" sz="3200" u="sng" dirty="0"/>
              <a:t>歲且大學畢業</a:t>
            </a:r>
            <a:r>
              <a:rPr lang="zh-TW" altLang="en-US" sz="3200" dirty="0"/>
              <a:t>的人當成主力客群。</a:t>
            </a:r>
            <a:endParaRPr lang="en-US" altLang="zh-TW" sz="3200" dirty="0"/>
          </a:p>
          <a:p>
            <a:r>
              <a:rPr lang="zh-TW" altLang="en-US" sz="3200" dirty="0"/>
              <a:t>婚姻諮詢組織可以對</a:t>
            </a:r>
            <a:r>
              <a:rPr lang="en-US" altLang="zh-TW" sz="3200" u="sng" dirty="0"/>
              <a:t>35~44</a:t>
            </a:r>
            <a:r>
              <a:rPr lang="zh-TW" altLang="en-US" sz="3200" u="sng" dirty="0"/>
              <a:t>歲或高中畢業</a:t>
            </a:r>
            <a:r>
              <a:rPr lang="zh-TW" altLang="en-US" sz="3200" dirty="0"/>
              <a:t>的人群當成主力客群，但最好避開</a:t>
            </a:r>
            <a:r>
              <a:rPr lang="en-US" altLang="zh-TW" sz="3200" dirty="0"/>
              <a:t>2</a:t>
            </a:r>
            <a:r>
              <a:rPr lang="zh-TW" altLang="en-US" sz="3200" dirty="0"/>
              <a:t>月及</a:t>
            </a:r>
            <a:r>
              <a:rPr lang="en-US" altLang="zh-TW" sz="3200" dirty="0"/>
              <a:t>9</a:t>
            </a:r>
            <a:r>
              <a:rPr lang="zh-TW" altLang="en-US" sz="3200" dirty="0"/>
              <a:t>月。</a:t>
            </a:r>
            <a:endParaRPr lang="en-US" altLang="zh-TW" sz="3200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87853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{0BAF74CA-FD03-42A0-B405-4C1953F0A614}TF6d5feb1e-e145-43f1-b745-cb4b54c5ee9742c6fa75-22948a3009fc</Template>
  <TotalTime>1149</TotalTime>
  <Words>531</Words>
  <Application>Microsoft Office PowerPoint</Application>
  <PresentationFormat>寬螢幕</PresentationFormat>
  <Paragraphs>51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2" baseType="lpstr">
      <vt:lpstr>Arial</vt:lpstr>
      <vt:lpstr>Tw Cen MT</vt:lpstr>
      <vt:lpstr>電路</vt:lpstr>
      <vt:lpstr>那些人較易結婚或離婚?</vt:lpstr>
      <vt:lpstr>目錄</vt:lpstr>
      <vt:lpstr>專題發想說明:</vt:lpstr>
      <vt:lpstr>收尋以下網站:</vt:lpstr>
      <vt:lpstr>資料轉換</vt:lpstr>
      <vt:lpstr>資料儲存</vt:lpstr>
      <vt:lpstr>資料分析</vt:lpstr>
      <vt:lpstr>歲數相關</vt:lpstr>
      <vt:lpstr>每月離婚人數 </vt:lpstr>
      <vt:lpstr>離婚-條件為臺中市大甲區</vt:lpstr>
      <vt:lpstr>結婚</vt:lpstr>
      <vt:lpstr>PowerPoint 簡報</vt:lpstr>
      <vt:lpstr>PowerPoint 簡報</vt:lpstr>
      <vt:lpstr>離婚-條件:25~34歲、台中市西區 登記/發生</vt:lpstr>
      <vt:lpstr>結婚/離婚男女比例</vt:lpstr>
      <vt:lpstr>結婚離婚統計</vt:lpstr>
      <vt:lpstr>額外相關發現</vt:lpstr>
      <vt:lpstr>結論</vt:lpstr>
      <vt:lpstr>相關建議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hestanley</dc:creator>
  <cp:lastModifiedBy>hestanley</cp:lastModifiedBy>
  <cp:revision>37</cp:revision>
  <dcterms:created xsi:type="dcterms:W3CDTF">2026-03-31T06:00:18Z</dcterms:created>
  <dcterms:modified xsi:type="dcterms:W3CDTF">2026-04-23T01:49:14Z</dcterms:modified>
</cp:coreProperties>
</file>